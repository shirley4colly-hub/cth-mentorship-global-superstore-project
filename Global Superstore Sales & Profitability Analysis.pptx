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7" r:id="rId11"/>
    <p:sldId id="264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hirl\Desktop\Data%20Analytics\CTH-Data-analytics-mentees\CTH-DATA-ANALYTICS-MENTEES-main\1.Professional%20Identity%20Architecture%20-%20Global%20SuperStore%20Dictionary\CTH%20Superstore%20global%20analysi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hirl\Desktop\Data%20Analytics\CTH-Data-analytics-mentees\CTH-DATA-ANALYTICS-MENTEES-main\1.Professional%20Identity%20Architecture%20-%20Global%20SuperStore%20Dictionary\CTH%20Superstore%20global%20analysi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hirl\Desktop\Data%20Analytics\CTH-Data-analytics-mentees\CTH-DATA-ANALYTICS-MENTEES-main\1.Professional%20Identity%20Architecture%20-%20Global%20SuperStore%20Dictionary\CTH%20Superstore%20global%20analysi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hirl\Desktop\Data%20Analytics\CTH-Data-analytics-mentees\CTH-DATA-ANALYTICS-MENTEES-main\1.Professional%20Identity%20Architecture%20-%20Global%20SuperStore%20Dictionary\CTH%20Superstore%20global%20analysi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hirl\Desktop\Data%20Analytics\CTH-Data-analytics-mentees\CTH-DATA-ANALYTICS-MENTEES-main\1.Professional%20Identity%20Architecture%20-%20Global%20SuperStore%20Dictionary\CTH%20Superstore%20global%20analysi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hirl\Desktop\Data%20Analytics\CTH-Data-analytics-mentees\CTH-DATA-ANALYTICS-MENTEES-main\1.Professional%20Identity%20Architecture%20-%20Global%20SuperStore%20Dictionary\CTH%20Superstore%20global%20analysi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hirl\Desktop\Data%20Analytics\CTH-Data-analytics-mentees\CTH-DATA-ANALYTICS-MENTEES-main\1.Professional%20Identity%20Architecture%20-%20Global%20SuperStore%20Dictionary\CTH%20Superstore%20global%20analysis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[CTH Superstore global analysis.xlsx]Explore!PivotTable7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Profit by Year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dLblPos val="b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dLblPos val="b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dLblPos val="b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dLblPos val="b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dLblPos val="b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dLblPos val="b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dLblPos val="b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Explore!$B$10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Explore!$A$11:$A$15</c:f>
              <c:strCache>
                <c:ptCount val="4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</c:strCache>
            </c:strRef>
          </c:cat>
          <c:val>
            <c:numRef>
              <c:f>Explore!$B$11:$B$15</c:f>
              <c:numCache>
                <c:formatCode>\$#,##0.00;\(\$#,##0.00\);\$#,##0.00</c:formatCode>
                <c:ptCount val="4"/>
                <c:pt idx="0">
                  <c:v>3792481.1099998634</c:v>
                </c:pt>
                <c:pt idx="1">
                  <c:v>4730162.9199998984</c:v>
                </c:pt>
                <c:pt idx="2">
                  <c:v>6075038.240000058</c:v>
                </c:pt>
                <c:pt idx="3">
                  <c:v>7529444.3799999394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474-47D8-B1BF-B8A3D4661948}"/>
            </c:ext>
          </c:extLst>
        </c:ser>
        <c:dLbls>
          <c:dLblPos val="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213184655"/>
        <c:axId val="1213209615"/>
      </c:lineChart>
      <c:catAx>
        <c:axId val="121318465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13209615"/>
        <c:crosses val="autoZero"/>
        <c:auto val="1"/>
        <c:lblAlgn val="ctr"/>
        <c:lblOffset val="100"/>
        <c:noMultiLvlLbl val="0"/>
      </c:catAx>
      <c:valAx>
        <c:axId val="1213209615"/>
        <c:scaling>
          <c:orientation val="minMax"/>
        </c:scaling>
        <c:delete val="1"/>
        <c:axPos val="l"/>
        <c:numFmt formatCode="\$#,##0.00;\(\$#,##0.00\);\$#,##0.00" sourceLinked="1"/>
        <c:majorTickMark val="none"/>
        <c:minorTickMark val="none"/>
        <c:tickLblPos val="nextTo"/>
        <c:crossAx val="12131846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>
      <a:outerShdw blurRad="63500" sx="102000" sy="102000" algn="ctr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[CTH Superstore global analysis.xlsx]Explore!PivotTable8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Sales by Product</a:t>
            </a:r>
            <a:r>
              <a:rPr lang="en-US" b="1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 Category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&quot;$&quot;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&quot;$&quot;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&quot;$&quot;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&quot;$&quot;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&quot;$&quot;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&quot;$&quot;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&quot;$&quot;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Explore!$E$10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&quot;$&quot;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Explore!$D$11:$D$14</c:f>
              <c:strCache>
                <c:ptCount val="3"/>
                <c:pt idx="0">
                  <c:v>Furniture</c:v>
                </c:pt>
                <c:pt idx="1">
                  <c:v>Office Supplies</c:v>
                </c:pt>
                <c:pt idx="2">
                  <c:v>Technology</c:v>
                </c:pt>
              </c:strCache>
            </c:strRef>
          </c:cat>
          <c:val>
            <c:numRef>
              <c:f>Explore!$E$11:$E$14</c:f>
              <c:numCache>
                <c:formatCode>\$#,##0.00;\(\$#,##0.00\);\$#,##0.00</c:formatCode>
                <c:ptCount val="3"/>
                <c:pt idx="0">
                  <c:v>63150912</c:v>
                </c:pt>
                <c:pt idx="1">
                  <c:v>56499215</c:v>
                </c:pt>
                <c:pt idx="2">
                  <c:v>70578430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17-43B9-AE3E-070726D7E09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2"/>
        <c:overlap val="-100"/>
        <c:axId val="731652127"/>
        <c:axId val="731652607"/>
      </c:barChart>
      <c:catAx>
        <c:axId val="7316521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731652607"/>
        <c:crosses val="autoZero"/>
        <c:auto val="1"/>
        <c:lblAlgn val="ctr"/>
        <c:lblOffset val="100"/>
        <c:noMultiLvlLbl val="0"/>
      </c:catAx>
      <c:valAx>
        <c:axId val="731652607"/>
        <c:scaling>
          <c:orientation val="minMax"/>
        </c:scaling>
        <c:delete val="1"/>
        <c:axPos val="l"/>
        <c:numFmt formatCode="\$#,##0.00;\(\$#,##0.00\);\$#,##0.00" sourceLinked="1"/>
        <c:majorTickMark val="out"/>
        <c:minorTickMark val="none"/>
        <c:tickLblPos val="nextTo"/>
        <c:crossAx val="7316521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>
      <a:outerShdw blurRad="63500" sx="102000" sy="102000" algn="ctr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[CTH Superstore global analysis.xlsx]Explore!PivotTable12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Profit by sub category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Explore!$B$18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Explore!$A$19:$A$36</c:f>
              <c:strCache>
                <c:ptCount val="17"/>
                <c:pt idx="0">
                  <c:v>Accessories</c:v>
                </c:pt>
                <c:pt idx="1">
                  <c:v>Appliances</c:v>
                </c:pt>
                <c:pt idx="2">
                  <c:v>Art</c:v>
                </c:pt>
                <c:pt idx="3">
                  <c:v>Binders</c:v>
                </c:pt>
                <c:pt idx="4">
                  <c:v>Bookcases</c:v>
                </c:pt>
                <c:pt idx="5">
                  <c:v>Chairs</c:v>
                </c:pt>
                <c:pt idx="6">
                  <c:v>Copiers</c:v>
                </c:pt>
                <c:pt idx="7">
                  <c:v>Envelopes</c:v>
                </c:pt>
                <c:pt idx="8">
                  <c:v>Fasteners</c:v>
                </c:pt>
                <c:pt idx="9">
                  <c:v>Furnishings</c:v>
                </c:pt>
                <c:pt idx="10">
                  <c:v>Labels</c:v>
                </c:pt>
                <c:pt idx="11">
                  <c:v>Machines</c:v>
                </c:pt>
                <c:pt idx="12">
                  <c:v>Paper</c:v>
                </c:pt>
                <c:pt idx="13">
                  <c:v>Phones</c:v>
                </c:pt>
                <c:pt idx="14">
                  <c:v>Storage</c:v>
                </c:pt>
                <c:pt idx="15">
                  <c:v>Supplies</c:v>
                </c:pt>
                <c:pt idx="16">
                  <c:v>Tables</c:v>
                </c:pt>
              </c:strCache>
            </c:strRef>
          </c:cat>
          <c:val>
            <c:numRef>
              <c:f>Explore!$B$19:$B$36</c:f>
              <c:numCache>
                <c:formatCode>\$#,##0.00;\(\$#,##0.00\);\$#,##0.00</c:formatCode>
                <c:ptCount val="17"/>
                <c:pt idx="0">
                  <c:v>1976775.339999987</c:v>
                </c:pt>
                <c:pt idx="1">
                  <c:v>2106692.7200000216</c:v>
                </c:pt>
                <c:pt idx="2">
                  <c:v>856057.5300000055</c:v>
                </c:pt>
                <c:pt idx="3">
                  <c:v>1108541.0099999583</c:v>
                </c:pt>
                <c:pt idx="4">
                  <c:v>2521778.480000067</c:v>
                </c:pt>
                <c:pt idx="5">
                  <c:v>2266364.4499999913</c:v>
                </c:pt>
                <c:pt idx="6">
                  <c:v>3798741.2699998519</c:v>
                </c:pt>
                <c:pt idx="7">
                  <c:v>466324.08999999287</c:v>
                </c:pt>
                <c:pt idx="8">
                  <c:v>166352.28999999803</c:v>
                </c:pt>
                <c:pt idx="9">
                  <c:v>723461.85999997123</c:v>
                </c:pt>
                <c:pt idx="10">
                  <c:v>224831.09999999896</c:v>
                </c:pt>
                <c:pt idx="11">
                  <c:v>1016503.2700000037</c:v>
                </c:pt>
                <c:pt idx="12">
                  <c:v>915436.05999999936</c:v>
                </c:pt>
                <c:pt idx="13">
                  <c:v>3145245.3200000725</c:v>
                </c:pt>
                <c:pt idx="14">
                  <c:v>1560713.489999986</c:v>
                </c:pt>
                <c:pt idx="15">
                  <c:v>358788.62000000209</c:v>
                </c:pt>
                <c:pt idx="16">
                  <c:v>-1085480.249999997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35-44AC-B200-3F201E7002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17047152"/>
        <c:axId val="1417041872"/>
      </c:barChart>
      <c:catAx>
        <c:axId val="141704715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7041872"/>
        <c:crosses val="autoZero"/>
        <c:auto val="1"/>
        <c:lblAlgn val="ctr"/>
        <c:lblOffset val="100"/>
        <c:noMultiLvlLbl val="0"/>
      </c:catAx>
      <c:valAx>
        <c:axId val="1417041872"/>
        <c:scaling>
          <c:orientation val="minMax"/>
        </c:scaling>
        <c:delete val="0"/>
        <c:axPos val="b"/>
        <c:numFmt formatCode="&quot;$&quot;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4170471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>
      <a:outerShdw blurRad="63500" sx="102000" sy="102000" algn="ctr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[CTH Superstore global analysis.xlsx]Explore!PivotTable10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Profit</a:t>
            </a:r>
            <a:r>
              <a:rPr lang="en-US" baseline="0"/>
              <a:t> by market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&quot;$&quot;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&quot;$&quot;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&quot;$&quot;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&quot;$&quot;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&quot;$&quot;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&quot;$&quot;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&quot;$&quot;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Explore!$K$10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&quot;$&quot;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Explore!$J$11:$J$17</c:f>
              <c:strCache>
                <c:ptCount val="6"/>
                <c:pt idx="0">
                  <c:v>Africa</c:v>
                </c:pt>
                <c:pt idx="1">
                  <c:v>APAC</c:v>
                </c:pt>
                <c:pt idx="2">
                  <c:v>EMEA</c:v>
                </c:pt>
                <c:pt idx="3">
                  <c:v>EU</c:v>
                </c:pt>
                <c:pt idx="4">
                  <c:v>LATAM</c:v>
                </c:pt>
                <c:pt idx="5">
                  <c:v>North America</c:v>
                </c:pt>
              </c:strCache>
            </c:strRef>
          </c:cat>
          <c:val>
            <c:numRef>
              <c:f>Explore!$K$11:$K$17</c:f>
              <c:numCache>
                <c:formatCode>\$#,##0.00;\(\$#,##0.00\);\$#,##0.00</c:formatCode>
                <c:ptCount val="6"/>
                <c:pt idx="0">
                  <c:v>733420.6400000056</c:v>
                </c:pt>
                <c:pt idx="1">
                  <c:v>7207795.5999999661</c:v>
                </c:pt>
                <c:pt idx="2">
                  <c:v>381400.94000000431</c:v>
                </c:pt>
                <c:pt idx="3">
                  <c:v>5794356.5200000415</c:v>
                </c:pt>
                <c:pt idx="4">
                  <c:v>3402321.2699999553</c:v>
                </c:pt>
                <c:pt idx="5">
                  <c:v>4607831.6799999643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E2-4378-8997-920774B402A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2"/>
        <c:axId val="1041519248"/>
        <c:axId val="1041525488"/>
      </c:barChart>
      <c:catAx>
        <c:axId val="104151924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1525488"/>
        <c:crosses val="autoZero"/>
        <c:auto val="1"/>
        <c:lblAlgn val="ctr"/>
        <c:lblOffset val="100"/>
        <c:noMultiLvlLbl val="0"/>
      </c:catAx>
      <c:valAx>
        <c:axId val="1041525488"/>
        <c:scaling>
          <c:orientation val="minMax"/>
        </c:scaling>
        <c:delete val="1"/>
        <c:axPos val="b"/>
        <c:numFmt formatCode="\$#,##0.00;\(\$#,##0.00\);\$#,##0.00" sourceLinked="1"/>
        <c:majorTickMark val="none"/>
        <c:minorTickMark val="none"/>
        <c:tickLblPos val="nextTo"/>
        <c:crossAx val="10415192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accent1">
          <a:alpha val="97000"/>
        </a:schemeClr>
      </a:solidFill>
      <a:round/>
    </a:ln>
    <a:effectLst>
      <a:outerShdw blurRad="63500" sx="102000" sy="102000" algn="ctr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[CTH Superstore global analysis.xlsx]Explore!PivotTable13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Sales</a:t>
            </a:r>
            <a:r>
              <a:rPr lang="en-US" b="1" baseline="0"/>
              <a:t> by Segment</a:t>
            </a:r>
            <a:endParaRPr lang="en-US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&quot;$&quot;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&quot;$&quot;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&quot;$&quot;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&quot;$&quot;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&quot;$&quot;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Explore!$Q$10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&quot;$&quot;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Explore!$P$11:$P$14</c:f>
              <c:strCache>
                <c:ptCount val="3"/>
                <c:pt idx="0">
                  <c:v>Consumer</c:v>
                </c:pt>
                <c:pt idx="1">
                  <c:v>Corporate</c:v>
                </c:pt>
                <c:pt idx="2">
                  <c:v>Home Office</c:v>
                </c:pt>
              </c:strCache>
            </c:strRef>
          </c:cat>
          <c:val>
            <c:numRef>
              <c:f>Explore!$Q$11:$Q$14</c:f>
              <c:numCache>
                <c:formatCode>\$#,##0.00;\(\$#,##0.00\);\$#,##0.00</c:formatCode>
                <c:ptCount val="3"/>
                <c:pt idx="0">
                  <c:v>97951842</c:v>
                </c:pt>
                <c:pt idx="1">
                  <c:v>58388486</c:v>
                </c:pt>
                <c:pt idx="2">
                  <c:v>33888229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E2-45EA-87E3-CC3A2C75609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2"/>
        <c:overlap val="-27"/>
        <c:axId val="1041496208"/>
        <c:axId val="1041499088"/>
      </c:barChart>
      <c:catAx>
        <c:axId val="10414962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041499088"/>
        <c:crosses val="autoZero"/>
        <c:auto val="1"/>
        <c:lblAlgn val="ctr"/>
        <c:lblOffset val="100"/>
        <c:noMultiLvlLbl val="0"/>
      </c:catAx>
      <c:valAx>
        <c:axId val="1041499088"/>
        <c:scaling>
          <c:orientation val="minMax"/>
        </c:scaling>
        <c:delete val="1"/>
        <c:axPos val="l"/>
        <c:numFmt formatCode="\$#,##0.00;\(\$#,##0.00\);\$#,##0.00" sourceLinked="1"/>
        <c:majorTickMark val="none"/>
        <c:minorTickMark val="none"/>
        <c:tickLblPos val="nextTo"/>
        <c:crossAx val="10414962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>
      <a:outerShdw blurRad="63500" sx="102000" sy="102000" algn="ctr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[CTH Superstore global analysis.xlsx]Explore!PivotTable11</c:name>
    <c:fmtId val="1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Average Profit by Ship mode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Explore!$N$10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Explore!$M$11:$M$15</c:f>
              <c:strCache>
                <c:ptCount val="4"/>
                <c:pt idx="0">
                  <c:v>First Class</c:v>
                </c:pt>
                <c:pt idx="1">
                  <c:v>Same Day</c:v>
                </c:pt>
                <c:pt idx="2">
                  <c:v>Second Class</c:v>
                </c:pt>
                <c:pt idx="3">
                  <c:v>Standard Class</c:v>
                </c:pt>
              </c:strCache>
            </c:strRef>
          </c:cat>
          <c:val>
            <c:numRef>
              <c:f>Explore!$N$11:$N$15</c:f>
              <c:numCache>
                <c:formatCode>\$#,##0.00;\(\$#,##0.00\);\$#,##0.00</c:formatCode>
                <c:ptCount val="4"/>
                <c:pt idx="0">
                  <c:v>29.882785432622679</c:v>
                </c:pt>
                <c:pt idx="1">
                  <c:v>31.467950124173029</c:v>
                </c:pt>
                <c:pt idx="2">
                  <c:v>28.278451939699909</c:v>
                </c:pt>
                <c:pt idx="3">
                  <c:v>29.665709272983474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776-4807-B39D-C470485AD5C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2"/>
        <c:overlap val="-27"/>
        <c:axId val="1290122112"/>
        <c:axId val="1290123552"/>
      </c:barChart>
      <c:catAx>
        <c:axId val="12901221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290123552"/>
        <c:crosses val="autoZero"/>
        <c:auto val="1"/>
        <c:lblAlgn val="ctr"/>
        <c:lblOffset val="100"/>
        <c:noMultiLvlLbl val="0"/>
      </c:catAx>
      <c:valAx>
        <c:axId val="1290123552"/>
        <c:scaling>
          <c:orientation val="minMax"/>
        </c:scaling>
        <c:delete val="1"/>
        <c:axPos val="l"/>
        <c:numFmt formatCode="\$#,##0.00;\(\$#,##0.00\);\$#,##0.00" sourceLinked="1"/>
        <c:majorTickMark val="out"/>
        <c:minorTickMark val="none"/>
        <c:tickLblPos val="nextTo"/>
        <c:crossAx val="1290122112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>
      <a:outerShdw blurRad="63500" sx="102000" sy="102000" algn="ctr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[CTH Superstore global analysis.xlsx]Explore!PivotTable14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Monthly sales and profit trend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Explore!$E$18</c:f>
              <c:strCache>
                <c:ptCount val="1"/>
                <c:pt idx="0">
                  <c:v>Sum of Sales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1"/>
            <c:dispEq val="1"/>
            <c:trendlineLbl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cat>
            <c:multiLvlStrRef>
              <c:f>Explore!$D$19:$D$71</c:f>
              <c:multiLvlStrCache>
                <c:ptCount val="48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  <c:pt idx="12">
                    <c:v>Jan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Apr</c:v>
                  </c:pt>
                  <c:pt idx="16">
                    <c:v>May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Aug</c:v>
                  </c:pt>
                  <c:pt idx="20">
                    <c:v>Sep</c:v>
                  </c:pt>
                  <c:pt idx="21">
                    <c:v>Oct</c:v>
                  </c:pt>
                  <c:pt idx="22">
                    <c:v>Nov</c:v>
                  </c:pt>
                  <c:pt idx="23">
                    <c:v>Dec</c:v>
                  </c:pt>
                  <c:pt idx="24">
                    <c:v>Jan</c:v>
                  </c:pt>
                  <c:pt idx="25">
                    <c:v>Feb</c:v>
                  </c:pt>
                  <c:pt idx="26">
                    <c:v>Mar</c:v>
                  </c:pt>
                  <c:pt idx="27">
                    <c:v>Apr</c:v>
                  </c:pt>
                  <c:pt idx="28">
                    <c:v>May</c:v>
                  </c:pt>
                  <c:pt idx="29">
                    <c:v>Jun</c:v>
                  </c:pt>
                  <c:pt idx="30">
                    <c:v>Jul</c:v>
                  </c:pt>
                  <c:pt idx="31">
                    <c:v>Aug</c:v>
                  </c:pt>
                  <c:pt idx="32">
                    <c:v>Sep</c:v>
                  </c:pt>
                  <c:pt idx="33">
                    <c:v>Oct</c:v>
                  </c:pt>
                  <c:pt idx="34">
                    <c:v>Nov</c:v>
                  </c:pt>
                  <c:pt idx="35">
                    <c:v>Dec</c:v>
                  </c:pt>
                  <c:pt idx="36">
                    <c:v>Jan</c:v>
                  </c:pt>
                  <c:pt idx="37">
                    <c:v>Feb</c:v>
                  </c:pt>
                  <c:pt idx="38">
                    <c:v>Mar</c:v>
                  </c:pt>
                  <c:pt idx="39">
                    <c:v>Apr</c:v>
                  </c:pt>
                  <c:pt idx="40">
                    <c:v>May</c:v>
                  </c:pt>
                  <c:pt idx="41">
                    <c:v>Jun</c:v>
                  </c:pt>
                  <c:pt idx="42">
                    <c:v>Jul</c:v>
                  </c:pt>
                  <c:pt idx="43">
                    <c:v>Aug</c:v>
                  </c:pt>
                  <c:pt idx="44">
                    <c:v>Sep</c:v>
                  </c:pt>
                  <c:pt idx="45">
                    <c:v>Oct</c:v>
                  </c:pt>
                  <c:pt idx="46">
                    <c:v>Nov</c:v>
                  </c:pt>
                  <c:pt idx="47">
                    <c:v>Dec</c:v>
                  </c:pt>
                </c:lvl>
                <c:lvl>
                  <c:pt idx="0">
                    <c:v>2011</c:v>
                  </c:pt>
                  <c:pt idx="12">
                    <c:v>2012</c:v>
                  </c:pt>
                  <c:pt idx="24">
                    <c:v>2013</c:v>
                  </c:pt>
                  <c:pt idx="36">
                    <c:v>2014</c:v>
                  </c:pt>
                </c:lvl>
              </c:multiLvlStrCache>
            </c:multiLvlStrRef>
          </c:cat>
          <c:val>
            <c:numRef>
              <c:f>Explore!$E$19:$E$71</c:f>
              <c:numCache>
                <c:formatCode>\$#,##0.00;\(\$#,##0.00\);\$#,##0.00</c:formatCode>
                <c:ptCount val="48"/>
                <c:pt idx="0">
                  <c:v>1481383</c:v>
                </c:pt>
                <c:pt idx="1">
                  <c:v>1347709</c:v>
                </c:pt>
                <c:pt idx="2">
                  <c:v>2162577</c:v>
                </c:pt>
                <c:pt idx="3">
                  <c:v>1789122</c:v>
                </c:pt>
                <c:pt idx="4">
                  <c:v>2342021</c:v>
                </c:pt>
                <c:pt idx="5">
                  <c:v>3302907</c:v>
                </c:pt>
                <c:pt idx="6">
                  <c:v>1958454</c:v>
                </c:pt>
                <c:pt idx="7">
                  <c:v>3216163</c:v>
                </c:pt>
                <c:pt idx="8">
                  <c:v>4508677</c:v>
                </c:pt>
                <c:pt idx="9">
                  <c:v>3211873</c:v>
                </c:pt>
                <c:pt idx="10">
                  <c:v>4650568</c:v>
                </c:pt>
                <c:pt idx="11">
                  <c:v>5082666</c:v>
                </c:pt>
                <c:pt idx="12">
                  <c:v>1965472</c:v>
                </c:pt>
                <c:pt idx="13">
                  <c:v>1577037</c:v>
                </c:pt>
                <c:pt idx="14">
                  <c:v>2417752</c:v>
                </c:pt>
                <c:pt idx="15">
                  <c:v>2348525</c:v>
                </c:pt>
                <c:pt idx="16">
                  <c:v>3081929</c:v>
                </c:pt>
                <c:pt idx="17">
                  <c:v>3813217</c:v>
                </c:pt>
                <c:pt idx="18">
                  <c:v>2218384</c:v>
                </c:pt>
                <c:pt idx="19">
                  <c:v>4624311</c:v>
                </c:pt>
                <c:pt idx="20">
                  <c:v>4215331</c:v>
                </c:pt>
                <c:pt idx="21">
                  <c:v>3826112</c:v>
                </c:pt>
                <c:pt idx="22">
                  <c:v>4899073</c:v>
                </c:pt>
                <c:pt idx="23">
                  <c:v>5163764</c:v>
                </c:pt>
                <c:pt idx="24">
                  <c:v>3012503</c:v>
                </c:pt>
                <c:pt idx="25">
                  <c:v>2310097</c:v>
                </c:pt>
                <c:pt idx="26">
                  <c:v>3011476</c:v>
                </c:pt>
                <c:pt idx="27">
                  <c:v>2483437</c:v>
                </c:pt>
                <c:pt idx="28">
                  <c:v>4312419</c:v>
                </c:pt>
                <c:pt idx="29">
                  <c:v>5862841</c:v>
                </c:pt>
                <c:pt idx="30">
                  <c:v>3568154</c:v>
                </c:pt>
                <c:pt idx="31">
                  <c:v>4901381</c:v>
                </c:pt>
                <c:pt idx="32">
                  <c:v>5761397</c:v>
                </c:pt>
                <c:pt idx="33">
                  <c:v>4296950</c:v>
                </c:pt>
                <c:pt idx="34">
                  <c:v>5276533</c:v>
                </c:pt>
                <c:pt idx="35">
                  <c:v>6083382</c:v>
                </c:pt>
                <c:pt idx="36">
                  <c:v>3388145</c:v>
                </c:pt>
                <c:pt idx="37">
                  <c:v>2792678</c:v>
                </c:pt>
                <c:pt idx="38">
                  <c:v>4034237</c:v>
                </c:pt>
                <c:pt idx="39">
                  <c:v>3694620</c:v>
                </c:pt>
                <c:pt idx="40">
                  <c:v>4163876</c:v>
                </c:pt>
                <c:pt idx="41">
                  <c:v>5773191</c:v>
                </c:pt>
                <c:pt idx="42">
                  <c:v>3849432</c:v>
                </c:pt>
                <c:pt idx="43">
                  <c:v>6801511</c:v>
                </c:pt>
                <c:pt idx="44">
                  <c:v>7225691</c:v>
                </c:pt>
                <c:pt idx="45">
                  <c:v>6476350</c:v>
                </c:pt>
                <c:pt idx="46">
                  <c:v>8438177</c:v>
                </c:pt>
                <c:pt idx="47">
                  <c:v>7505052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EEF-4CE5-9321-E2EE3FF46B68}"/>
            </c:ext>
          </c:extLst>
        </c:ser>
        <c:ser>
          <c:idx val="1"/>
          <c:order val="1"/>
          <c:tx>
            <c:strRef>
              <c:f>Explore!$F$18</c:f>
              <c:strCache>
                <c:ptCount val="1"/>
                <c:pt idx="0">
                  <c:v>Sum of Profit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trendline>
            <c:spPr>
              <a:ln w="19050" cap="rnd">
                <a:solidFill>
                  <a:schemeClr val="accent2"/>
                </a:solidFill>
                <a:prstDash val="sysDot"/>
              </a:ln>
              <a:effectLst/>
            </c:spPr>
            <c:trendlineType val="linear"/>
            <c:dispRSqr val="1"/>
            <c:dispEq val="1"/>
            <c:trendlineLbl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cat>
            <c:multiLvlStrRef>
              <c:f>Explore!$D$19:$D$71</c:f>
              <c:multiLvlStrCache>
                <c:ptCount val="48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  <c:pt idx="12">
                    <c:v>Jan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Apr</c:v>
                  </c:pt>
                  <c:pt idx="16">
                    <c:v>May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Aug</c:v>
                  </c:pt>
                  <c:pt idx="20">
                    <c:v>Sep</c:v>
                  </c:pt>
                  <c:pt idx="21">
                    <c:v>Oct</c:v>
                  </c:pt>
                  <c:pt idx="22">
                    <c:v>Nov</c:v>
                  </c:pt>
                  <c:pt idx="23">
                    <c:v>Dec</c:v>
                  </c:pt>
                  <c:pt idx="24">
                    <c:v>Jan</c:v>
                  </c:pt>
                  <c:pt idx="25">
                    <c:v>Feb</c:v>
                  </c:pt>
                  <c:pt idx="26">
                    <c:v>Mar</c:v>
                  </c:pt>
                  <c:pt idx="27">
                    <c:v>Apr</c:v>
                  </c:pt>
                  <c:pt idx="28">
                    <c:v>May</c:v>
                  </c:pt>
                  <c:pt idx="29">
                    <c:v>Jun</c:v>
                  </c:pt>
                  <c:pt idx="30">
                    <c:v>Jul</c:v>
                  </c:pt>
                  <c:pt idx="31">
                    <c:v>Aug</c:v>
                  </c:pt>
                  <c:pt idx="32">
                    <c:v>Sep</c:v>
                  </c:pt>
                  <c:pt idx="33">
                    <c:v>Oct</c:v>
                  </c:pt>
                  <c:pt idx="34">
                    <c:v>Nov</c:v>
                  </c:pt>
                  <c:pt idx="35">
                    <c:v>Dec</c:v>
                  </c:pt>
                  <c:pt idx="36">
                    <c:v>Jan</c:v>
                  </c:pt>
                  <c:pt idx="37">
                    <c:v>Feb</c:v>
                  </c:pt>
                  <c:pt idx="38">
                    <c:v>Mar</c:v>
                  </c:pt>
                  <c:pt idx="39">
                    <c:v>Apr</c:v>
                  </c:pt>
                  <c:pt idx="40">
                    <c:v>May</c:v>
                  </c:pt>
                  <c:pt idx="41">
                    <c:v>Jun</c:v>
                  </c:pt>
                  <c:pt idx="42">
                    <c:v>Jul</c:v>
                  </c:pt>
                  <c:pt idx="43">
                    <c:v>Aug</c:v>
                  </c:pt>
                  <c:pt idx="44">
                    <c:v>Sep</c:v>
                  </c:pt>
                  <c:pt idx="45">
                    <c:v>Oct</c:v>
                  </c:pt>
                  <c:pt idx="46">
                    <c:v>Nov</c:v>
                  </c:pt>
                  <c:pt idx="47">
                    <c:v>Dec</c:v>
                  </c:pt>
                </c:lvl>
                <c:lvl>
                  <c:pt idx="0">
                    <c:v>2011</c:v>
                  </c:pt>
                  <c:pt idx="12">
                    <c:v>2012</c:v>
                  </c:pt>
                  <c:pt idx="24">
                    <c:v>2013</c:v>
                  </c:pt>
                  <c:pt idx="36">
                    <c:v>2014</c:v>
                  </c:pt>
                </c:lvl>
              </c:multiLvlStrCache>
            </c:multiLvlStrRef>
          </c:cat>
          <c:val>
            <c:numRef>
              <c:f>Explore!$F$19:$F$71</c:f>
              <c:numCache>
                <c:formatCode>\$#,##0.00;\(\$#,##0.00\);\$#,##0.00</c:formatCode>
                <c:ptCount val="48"/>
                <c:pt idx="0">
                  <c:v>118139.0800000015</c:v>
                </c:pt>
                <c:pt idx="1">
                  <c:v>167292.99000000121</c:v>
                </c:pt>
                <c:pt idx="2">
                  <c:v>221680.5600000002</c:v>
                </c:pt>
                <c:pt idx="3">
                  <c:v>195571.179999999</c:v>
                </c:pt>
                <c:pt idx="4">
                  <c:v>177636.49000000031</c:v>
                </c:pt>
                <c:pt idx="5">
                  <c:v>365238.53999999631</c:v>
                </c:pt>
                <c:pt idx="6">
                  <c:v>101398.92000000228</c:v>
                </c:pt>
                <c:pt idx="7">
                  <c:v>351574.78000000404</c:v>
                </c:pt>
                <c:pt idx="8">
                  <c:v>528476.9300000018</c:v>
                </c:pt>
                <c:pt idx="9">
                  <c:v>465217.52000000083</c:v>
                </c:pt>
                <c:pt idx="10">
                  <c:v>461337.11999999685</c:v>
                </c:pt>
                <c:pt idx="11">
                  <c:v>638916.99999999662</c:v>
                </c:pt>
                <c:pt idx="12">
                  <c:v>159335.97999999911</c:v>
                </c:pt>
                <c:pt idx="13">
                  <c:v>280526.87000000093</c:v>
                </c:pt>
                <c:pt idx="14">
                  <c:v>270638.91999999527</c:v>
                </c:pt>
                <c:pt idx="15">
                  <c:v>263712.04999999888</c:v>
                </c:pt>
                <c:pt idx="16">
                  <c:v>459061.69000000029</c:v>
                </c:pt>
                <c:pt idx="17">
                  <c:v>521685.55999999552</c:v>
                </c:pt>
                <c:pt idx="18">
                  <c:v>181316.04999999996</c:v>
                </c:pt>
                <c:pt idx="19">
                  <c:v>736563.570000001</c:v>
                </c:pt>
                <c:pt idx="20">
                  <c:v>396804.47000000352</c:v>
                </c:pt>
                <c:pt idx="21">
                  <c:v>458724.01000000467</c:v>
                </c:pt>
                <c:pt idx="22">
                  <c:v>432545.27999999409</c:v>
                </c:pt>
                <c:pt idx="23">
                  <c:v>569248.4699999881</c:v>
                </c:pt>
                <c:pt idx="24">
                  <c:v>406536.09000000387</c:v>
                </c:pt>
                <c:pt idx="25">
                  <c:v>370819.31999999861</c:v>
                </c:pt>
                <c:pt idx="26">
                  <c:v>379863.80000000371</c:v>
                </c:pt>
                <c:pt idx="27">
                  <c:v>244289.44000000405</c:v>
                </c:pt>
                <c:pt idx="28">
                  <c:v>436084.10000000056</c:v>
                </c:pt>
                <c:pt idx="29">
                  <c:v>650583.90000000608</c:v>
                </c:pt>
                <c:pt idx="30">
                  <c:v>452746.95000000513</c:v>
                </c:pt>
                <c:pt idx="31">
                  <c:v>453169.7600000003</c:v>
                </c:pt>
                <c:pt idx="32">
                  <c:v>672365.04000000807</c:v>
                </c:pt>
                <c:pt idx="33">
                  <c:v>561240.29999999295</c:v>
                </c:pt>
                <c:pt idx="34">
                  <c:v>690176.96999999054</c:v>
                </c:pt>
                <c:pt idx="35">
                  <c:v>757162.56999998924</c:v>
                </c:pt>
                <c:pt idx="36">
                  <c:v>362296.52999998868</c:v>
                </c:pt>
                <c:pt idx="37">
                  <c:v>318415.18999999564</c:v>
                </c:pt>
                <c:pt idx="38">
                  <c:v>616570.79000000621</c:v>
                </c:pt>
                <c:pt idx="39">
                  <c:v>381978.22999999824</c:v>
                </c:pt>
                <c:pt idx="40">
                  <c:v>464208.41000000533</c:v>
                </c:pt>
                <c:pt idx="41">
                  <c:v>668879.90999998513</c:v>
                </c:pt>
                <c:pt idx="42">
                  <c:v>400017.43000000349</c:v>
                </c:pt>
                <c:pt idx="43">
                  <c:v>734453.6899999911</c:v>
                </c:pt>
                <c:pt idx="44">
                  <c:v>1024947.7500000184</c:v>
                </c:pt>
                <c:pt idx="45">
                  <c:v>843788.02000000072</c:v>
                </c:pt>
                <c:pt idx="46">
                  <c:v>979205.67999999528</c:v>
                </c:pt>
                <c:pt idx="47">
                  <c:v>734682.75000000419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EEF-4CE5-9321-E2EE3FF46B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85860960"/>
        <c:axId val="1485861440"/>
      </c:lineChart>
      <c:catAx>
        <c:axId val="14858609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5861440"/>
        <c:crosses val="autoZero"/>
        <c:auto val="1"/>
        <c:lblAlgn val="ctr"/>
        <c:lblOffset val="100"/>
        <c:noMultiLvlLbl val="0"/>
      </c:catAx>
      <c:valAx>
        <c:axId val="1485861440"/>
        <c:scaling>
          <c:orientation val="minMax"/>
        </c:scaling>
        <c:delete val="0"/>
        <c:axPos val="l"/>
        <c:numFmt formatCode="\$#,##0.00;\(\$#,##0.00\);\$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58609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>
      <a:outerShdw blurRad="63500" sx="102000" sy="102000" algn="ctr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23C89-183D-82A3-A058-23A8E9036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DC0A45-6A8F-8F65-B8EE-241E530CD3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C55C4-32DA-A001-20BE-BDFFA7018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081A2-F2E4-48C0-872C-77E4883709FF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95796-194A-224E-8922-C9859F1EC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C434EA-198C-8377-7880-E68BFAD22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04113-389E-4D4F-B4B6-28418E576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525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E8053-8935-5CF1-08E8-06AC9FF3D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57AFF-19AE-EDD3-70AD-79DA7F84D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C3737-D946-74F9-D625-8E9F5803D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081A2-F2E4-48C0-872C-77E4883709FF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EB3CD-CC32-29D9-F267-9B01927A0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B1335-1114-C68E-7555-E40384AAB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04113-389E-4D4F-B4B6-28418E576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7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F0DA8-9142-2B01-8F15-6E494D43B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EAF570-A90A-AA25-7A7C-3A47C1CCF4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7B2153-8182-70D2-6B57-D526903BC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081A2-F2E4-48C0-872C-77E4883709FF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7EDB0-6D59-A8E3-4910-8748E7051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A363F-E350-33D8-6B3F-9A48DE95C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04113-389E-4D4F-B4B6-28418E576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018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70970-0844-EA45-A8BD-8E752DA73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77DEA-56E9-DC8B-DE28-42B83E8355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F50FAC-8688-8F9C-1EB3-1EA11296E1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7D45A6-1890-7570-366C-F28FDFF9D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081A2-F2E4-48C0-872C-77E4883709FF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CD0714-1FA5-429C-0399-5DF23F368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AFA1F6-E212-6072-A330-F8F2D9C30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04113-389E-4D4F-B4B6-28418E576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866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9270E-6BF8-D5BF-2D63-C363171A1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BF2481-07AF-E260-EFFC-E434DB358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0DEDD0-77AC-17F2-FAF8-627432C395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D1D151-D5A0-12D1-6D4C-EBF9928B5D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30C510-7313-4CC3-C881-9B2FB76C14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B826A8-3C64-077C-5DCA-14C370FE8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081A2-F2E4-48C0-872C-77E4883709FF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9BB9B3-21BF-6EEE-0533-A98707D79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C60E1C-F927-CBAA-BA48-3592F2DFB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04113-389E-4D4F-B4B6-28418E576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982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41951-B4F6-1830-CF94-0AA177BC7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669C47-3542-8625-8ABC-8EFDBFB2D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081A2-F2E4-48C0-872C-77E4883709FF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09D272-E738-4EAA-0C3B-D4801F757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9A9231-FBFC-E3A0-BB43-E69FA619E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04113-389E-4D4F-B4B6-28418E576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190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D4AB4B-8FC1-FF11-2F4E-1F55FBAA4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081A2-F2E4-48C0-872C-77E4883709FF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61D29E-6E5A-B26A-896A-27147B448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697B6-B894-5337-7D55-DCA300794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04113-389E-4D4F-B4B6-28418E576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951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7F5BA-10EF-5035-1D2A-E61C31F2C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2F133-26CC-382F-E251-0A736A536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AC7C35-F5F1-B134-C780-745087CFD9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B30168-DBC9-A1CD-F3D3-68E726F3F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081A2-F2E4-48C0-872C-77E4883709FF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B1D51D-405D-03BA-CF5E-2CC7749C1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11EBA1-91B4-4013-71A8-E40F1FE6E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04113-389E-4D4F-B4B6-28418E576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389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75E13-0C90-77BA-1E51-080AD7D2A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19D786-CC95-82D3-71DD-B81733B30F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850E16-2789-043D-576C-372301396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D0012E-E396-3B1D-0A56-C79A9E142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081A2-F2E4-48C0-872C-77E4883709FF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9921A4-0249-D3D6-EB34-E9F8343D5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67B21C-5D6B-E26C-109B-2F196C977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04113-389E-4D4F-B4B6-28418E576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657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5DBD4-511A-0965-C791-0859167A7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DF5114-9A71-47C2-220B-FE1AF24A00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ACAEE-1BFE-0C8D-3FEA-45F9CB88D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081A2-F2E4-48C0-872C-77E4883709FF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32AAC-2DC1-0B5B-B159-01E88E199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75D1F-F45D-161C-71DF-AAE016C46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04113-389E-4D4F-B4B6-28418E576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02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FABB06-FFB4-7D41-5381-6A19529DAC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A86B0B-9F0C-3CE4-C4E5-312D397336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3A4BB-E56F-9C3C-3E95-86921E7DC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081A2-F2E4-48C0-872C-77E4883709FF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DEC414-27FD-286B-9D9D-E666EA5E8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1A882-E74C-11CC-441F-DB86D19A5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04113-389E-4D4F-B4B6-28418E576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239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25C8BE-CA12-67CC-6546-E65686AD7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0D303-7874-77C2-D744-A98F3358E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227D8-6DD8-FED3-93E5-E2EF923C64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7081A2-F2E4-48C0-872C-77E4883709FF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9C02DD-8023-98D9-17EB-D1EB2D3E14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4B194-D2FD-6CE4-88A5-643AE73D27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004113-389E-4D4F-B4B6-28418E576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505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CE70B-9F2C-03BC-38A9-72BF792F2E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5738" y="-12158"/>
            <a:ext cx="9492343" cy="1655763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Superstore Sales &amp; Profitability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67513C-30E2-A3D8-E45A-7B2617E582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61066"/>
            <a:ext cx="9144000" cy="3212419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Kaggle Global Superstore</a:t>
            </a:r>
          </a:p>
          <a:p>
            <a:pPr algn="l"/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Power Query, Excel</a:t>
            </a:r>
          </a:p>
          <a:p>
            <a:pPr algn="l"/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Odunze-Akasiugwu Onyinye Shirley</a:t>
            </a:r>
          </a:p>
          <a:p>
            <a:pPr algn="l"/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February, 2026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Walmart | Brands of the World™ | Download vector logos and ...">
            <a:extLst>
              <a:ext uri="{FF2B5EF4-FFF2-40B4-BE49-F238E27FC236}">
                <a16:creationId xmlns:a16="http://schemas.microsoft.com/office/drawing/2014/main" id="{0CC3EA4A-803C-E3D7-7330-7C4CDC7419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3150" y="173035"/>
            <a:ext cx="140970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8741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4C019-76E2-CAB3-4F58-0A377CC2A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1096E-81F8-3D25-CF9F-AD3F029AFD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2116" y="43545"/>
            <a:ext cx="9492343" cy="805539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 &amp; MODELING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3231A1-FAB6-6041-D3D7-E51022DB9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001485"/>
            <a:ext cx="9144000" cy="5812969"/>
          </a:xfrm>
        </p:spPr>
        <p:txBody>
          <a:bodyPr>
            <a:normAutofit fontScale="92500"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Superstore dataset containing sales, orders, customers, products, and location data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Covers multiple years (2011–2014) across global markets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measures: Sales, Profit, Quantity, Discount, Shipping Cost</a:t>
            </a: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Modeling Approach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 (Fact Table)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(Dimension)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Products (Dimension)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(Dimension)</a:t>
            </a: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Star-schema structure used to enable efficient analysis and visualization. It prevents data duplication and improves analytical accuracy.</a:t>
            </a:r>
          </a:p>
        </p:txBody>
      </p:sp>
    </p:spTree>
    <p:extLst>
      <p:ext uri="{BB962C8B-B14F-4D97-AF65-F5344CB8AC3E}">
        <p14:creationId xmlns:p14="http://schemas.microsoft.com/office/powerpoint/2010/main" val="444802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AF27E-3D33-53CC-C928-98F112F43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B8255-822F-685E-3F79-EB03331C7C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2745" y="43545"/>
            <a:ext cx="9492343" cy="805539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TREND OVER TIME (DESCRIPTIVE)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DD3682-53DD-EDA9-5A4E-BED95231B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467" y="1186548"/>
            <a:ext cx="7330629" cy="4974772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Performance by Year (2011–2014)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increased consistently across all four years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2011 recorded the lowest profit at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$3.79M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grew steadily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$7.53M in 2014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trend indicates strong business growth and 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profitability</a:t>
            </a: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company experienced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sustained profit growth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suggesting effective sales expansion and cost management.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8D9E814-7181-43CE-B12D-BC2C98D2F4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6549101"/>
              </p:ext>
            </p:extLst>
          </p:nvPr>
        </p:nvGraphicFramePr>
        <p:xfrm>
          <a:off x="6964253" y="1871038"/>
          <a:ext cx="4814763" cy="28612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36642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90E77-DC6B-03CA-0B30-E844313BA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5AE81-BB31-0317-9404-9F952CD485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2745" y="210969"/>
            <a:ext cx="9492343" cy="805539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BY PRODUCT CATEGORY (DESCRIPTIVE)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614061-0C32-2E31-9BAB-2B16B0BDA4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3930" y="1258339"/>
            <a:ext cx="7330637" cy="4355383"/>
          </a:xfrm>
        </p:spPr>
        <p:txBody>
          <a:bodyPr>
            <a:normAutofit lnSpcReduction="10000"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Contribution by Product Category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generated the highest sales at $70.76M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Furniture followed with $63.15M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Office Supplies recorded the lowest sales at 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$56.50M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products are the primary revenue driver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Office Supplies may require volume-based or pricing 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 review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731DF85B-5CD5-4A6E-8AAC-889AFF27AF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5843617"/>
              </p:ext>
            </p:extLst>
          </p:nvPr>
        </p:nvGraphicFramePr>
        <p:xfrm>
          <a:off x="7150386" y="1643222"/>
          <a:ext cx="4836033" cy="29002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65959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1E5F5-6F54-96E2-F9F1-55F83C12A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E625E-2B2C-911E-BD6C-F6927AF6CA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2745" y="174172"/>
            <a:ext cx="9307283" cy="664029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BY SUB-CATEGORY (DIAGNOSTIC)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270503-2CEC-ED54-F223-870A3F6172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4958" y="1223616"/>
            <a:ext cx="6890794" cy="5460212"/>
          </a:xfrm>
        </p:spPr>
        <p:txBody>
          <a:bodyPr>
            <a:normAutofit lnSpcReduction="10000"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b="1" dirty="0"/>
              <a:t>Profitability Across Product Sub-Categories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b="1" dirty="0"/>
              <a:t>Copiers</a:t>
            </a:r>
            <a:r>
              <a:rPr lang="en-US" dirty="0"/>
              <a:t> generated the highest profit among all</a:t>
            </a:r>
          </a:p>
          <a:p>
            <a:pPr algn="l"/>
            <a:r>
              <a:rPr lang="en-US" dirty="0"/>
              <a:t> sub-categories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b="1" dirty="0"/>
              <a:t>Phones, Bookcases, and Chairs</a:t>
            </a:r>
            <a:r>
              <a:rPr lang="en-US" dirty="0"/>
              <a:t> also performed strongly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/>
              <a:t>Sub-categories such as </a:t>
            </a:r>
            <a:r>
              <a:rPr lang="en-US" b="1" dirty="0"/>
              <a:t>Tables and Supplies</a:t>
            </a:r>
            <a:r>
              <a:rPr lang="en-US" dirty="0"/>
              <a:t> recorded losses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b="1" dirty="0"/>
              <a:t>Key Insight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/>
              <a:t>High sales volume does not always translate </a:t>
            </a:r>
          </a:p>
          <a:p>
            <a:pPr algn="l"/>
            <a:r>
              <a:rPr lang="en-US" dirty="0"/>
              <a:t>into high profit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/>
              <a:t>Loss-making sub-categories may be affected by:</a:t>
            </a:r>
          </a:p>
          <a:p>
            <a:pPr marL="800100" lvl="1" indent="-342900" algn="l">
              <a:buFont typeface="Wingdings" panose="05000000000000000000" pitchFamily="2" charset="2"/>
              <a:buChar char="ü"/>
            </a:pPr>
            <a:r>
              <a:rPr lang="en-US" dirty="0"/>
              <a:t>Excessive discounts</a:t>
            </a:r>
          </a:p>
          <a:p>
            <a:pPr marL="800100" lvl="1" indent="-342900" algn="l">
              <a:buFont typeface="Wingdings" panose="05000000000000000000" pitchFamily="2" charset="2"/>
              <a:buChar char="ü"/>
            </a:pPr>
            <a:r>
              <a:rPr lang="en-US" dirty="0"/>
              <a:t>High shipping or operational costs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C33FD1BF-B63D-4609-A2EC-9D8D90E2B9F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12487033"/>
              </p:ext>
            </p:extLst>
          </p:nvPr>
        </p:nvGraphicFramePr>
        <p:xfrm>
          <a:off x="6717596" y="1595374"/>
          <a:ext cx="5284930" cy="36672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084538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B24FF-F9B2-858E-D543-817E766BF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59942-8032-119A-4EF1-3A7E579591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2745" y="174172"/>
            <a:ext cx="9307283" cy="664029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BY MARKET (DIAGNOSTIC)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E9705D-AAB5-A5F1-D001-4E5895F967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9680" y="992124"/>
            <a:ext cx="6161591" cy="5281354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Market-Level Profit Distribution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 is the most profitable market ($7.21M)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 and North America also show strong profitability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EMEA and Africa contribute significantly less to overall profit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</a:t>
            </a: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l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Profitability varies widely across markets</a:t>
            </a:r>
          </a:p>
          <a:p>
            <a:pPr marL="800100" lvl="1" indent="-342900" algn="l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focus should prioritize high-performing regions while reassessing weaker ones.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EDE47AE-71D7-4AA5-9155-E85085109C2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28212374"/>
              </p:ext>
            </p:extLst>
          </p:nvPr>
        </p:nvGraphicFramePr>
        <p:xfrm>
          <a:off x="6005676" y="2079624"/>
          <a:ext cx="6037438" cy="2698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56065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C259D-9E50-7933-DBD7-63624D990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13A4F-4D5E-016F-7EF2-411FD6ADB8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4516" y="206828"/>
            <a:ext cx="10267018" cy="881743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 PERFORMANCE ANALYSIS</a:t>
            </a:r>
            <a:br>
              <a:rPr lang="en-US" sz="3600" dirty="0"/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(DIAGNOSTIC → PRESCRIPTIVE)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920E5D-092A-2CBE-B700-C20D2252F2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391" y="1088571"/>
            <a:ext cx="7176304" cy="5659470"/>
          </a:xfrm>
        </p:spPr>
        <p:txBody>
          <a:bodyPr>
            <a:normAutofit fontScale="92500" lnSpcReduction="10000"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b="1" dirty="0"/>
              <a:t>Customer Sales Distribution by Segment</a:t>
            </a:r>
          </a:p>
          <a:p>
            <a:pPr algn="l"/>
            <a:r>
              <a:rPr lang="en-US" dirty="0"/>
              <a:t>The </a:t>
            </a:r>
            <a:r>
              <a:rPr lang="en-US" b="1" dirty="0"/>
              <a:t>Consumer segment</a:t>
            </a:r>
            <a:r>
              <a:rPr lang="en-US" dirty="0"/>
              <a:t> generates the highest sales at </a:t>
            </a:r>
          </a:p>
          <a:p>
            <a:pPr algn="l"/>
            <a:r>
              <a:rPr lang="en-US" b="1" dirty="0"/>
              <a:t>$97.95M</a:t>
            </a:r>
            <a:r>
              <a:rPr lang="en-US" dirty="0"/>
              <a:t>, contributing approximately </a:t>
            </a:r>
            <a:r>
              <a:rPr lang="en-US" b="1" dirty="0"/>
              <a:t>51.5%</a:t>
            </a:r>
            <a:r>
              <a:rPr lang="en-US" dirty="0"/>
              <a:t> of total revenue.</a:t>
            </a:r>
          </a:p>
          <a:p>
            <a:pPr algn="l"/>
            <a:r>
              <a:rPr lang="en-US" dirty="0"/>
              <a:t>The </a:t>
            </a:r>
            <a:r>
              <a:rPr lang="en-US" b="1" dirty="0"/>
              <a:t>Corporate segment</a:t>
            </a:r>
            <a:r>
              <a:rPr lang="en-US" dirty="0"/>
              <a:t> contributes </a:t>
            </a:r>
            <a:r>
              <a:rPr lang="en-US" b="1" dirty="0"/>
              <a:t>$58.39M</a:t>
            </a:r>
            <a:r>
              <a:rPr lang="en-US" dirty="0"/>
              <a:t>, representing about </a:t>
            </a:r>
            <a:r>
              <a:rPr lang="en-US" b="1" dirty="0"/>
              <a:t>30.7%</a:t>
            </a:r>
            <a:r>
              <a:rPr lang="en-US" dirty="0"/>
              <a:t> of total sales.</a:t>
            </a:r>
          </a:p>
          <a:p>
            <a:pPr algn="l"/>
            <a:r>
              <a:rPr lang="en-US" dirty="0"/>
              <a:t>The </a:t>
            </a:r>
            <a:r>
              <a:rPr lang="en-US" b="1" dirty="0"/>
              <a:t>Home Office segment</a:t>
            </a:r>
            <a:r>
              <a:rPr lang="en-US" dirty="0"/>
              <a:t> generates </a:t>
            </a:r>
            <a:r>
              <a:rPr lang="en-US" b="1" dirty="0"/>
              <a:t>$33.89M</a:t>
            </a:r>
            <a:r>
              <a:rPr lang="en-US" dirty="0"/>
              <a:t>, accounting </a:t>
            </a:r>
          </a:p>
          <a:p>
            <a:pPr algn="l"/>
            <a:r>
              <a:rPr lang="en-US" dirty="0"/>
              <a:t>for </a:t>
            </a:r>
            <a:r>
              <a:rPr lang="en-US" b="1" dirty="0"/>
              <a:t>17.8%</a:t>
            </a:r>
            <a:r>
              <a:rPr lang="en-US" dirty="0"/>
              <a:t> of overall revenue.</a:t>
            </a:r>
          </a:p>
          <a:p>
            <a:pPr algn="l"/>
            <a:r>
              <a:rPr lang="en-US" b="1" dirty="0"/>
              <a:t>Key Insight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dirty="0"/>
              <a:t>The business is heavily driven by Consumer customers, indicating strong retail demand. 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dirty="0"/>
              <a:t>However, Corporate clients represent a significant revenue stream and offer opportunities for long-term contractual growth. 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dirty="0"/>
              <a:t>The Home Office segment presents potential for targeted expansion strategies.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DAB4F68-7DC6-48B7-9C31-2C0DD98165A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58006358"/>
              </p:ext>
            </p:extLst>
          </p:nvPr>
        </p:nvGraphicFramePr>
        <p:xfrm>
          <a:off x="7281138" y="2191520"/>
          <a:ext cx="4829176" cy="26370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66401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3E48C-5764-8A3C-BC53-0E699DBDE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9194F-E4D1-DFB6-2C78-28B731335D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4516" y="206828"/>
            <a:ext cx="9307283" cy="881743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SHIPPING MODE ANALYSIS (DIAGNOSTIC → PRESCRIPTIVE)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C22855-FC7C-24EA-C3DF-C944171B5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92" y="1269916"/>
            <a:ext cx="6902367" cy="5258206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Profit by Shipping Mode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Day shipping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yields the highest average profit per order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Class shipping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produces the lowest average profit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and first class shipping perform moderately</a:t>
            </a: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</a:t>
            </a:r>
          </a:p>
          <a:p>
            <a:pPr marL="800100" lvl="1" indent="-342900" algn="l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shipping does not necessarily reduce profitability</a:t>
            </a:r>
          </a:p>
          <a:p>
            <a:pPr marL="800100" lvl="1" indent="-342900" algn="l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Optimizing shipping mode selection can improve margins.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893C96B-8B87-4E6C-8D47-9800C926BC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21584634"/>
              </p:ext>
            </p:extLst>
          </p:nvPr>
        </p:nvGraphicFramePr>
        <p:xfrm>
          <a:off x="7123217" y="2101673"/>
          <a:ext cx="4797777" cy="26546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76991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1761B-E1F6-4B58-50B6-BEEDE90F0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86D6F-F594-6D21-1E25-59109642DC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4516" y="152399"/>
            <a:ext cx="8958941" cy="674914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sales and profit trends (Predictive)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44EC18-1D7D-EDF8-6741-100129422B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682885"/>
            <a:ext cx="6032501" cy="3687768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trend analysis indicates that sales are increasing at an estimated rate of approximately $85,594 per month, while profit is increasing at approximately $10,660 per month. 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R² values of 0.495 and 0.464 suggest a moderate positive trend, indicating consistent growth over time with some seasonal variation.”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7DB70E93-E52C-4D8F-B04E-532EDE6726C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27663922"/>
              </p:ext>
            </p:extLst>
          </p:nvPr>
        </p:nvGraphicFramePr>
        <p:xfrm>
          <a:off x="5991825" y="1908871"/>
          <a:ext cx="6032500" cy="27693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20734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EADE3-B40B-977B-48BE-3F987DFD9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723F9-349E-A9A4-853E-BE8770C920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4516" y="152399"/>
            <a:ext cx="8958941" cy="674914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INSIGHTS 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9E1B07-6982-9C1A-6FA7-DEF4483358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208322"/>
            <a:ext cx="9144000" cy="4800593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Profitability increased steadily from 2011 to 2014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products dominate sales performance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Certain sub-categories generate losses despite high sales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 is the most profitable global market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Shipping mode has a measurable impact on profit</a:t>
            </a:r>
          </a:p>
        </p:txBody>
      </p:sp>
    </p:spTree>
    <p:extLst>
      <p:ext uri="{BB962C8B-B14F-4D97-AF65-F5344CB8AC3E}">
        <p14:creationId xmlns:p14="http://schemas.microsoft.com/office/powerpoint/2010/main" val="2569590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A1D5E-CCFF-8D1A-A417-DD29D9040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443E7-9E91-DAF4-8C70-E38CEA265F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6288" y="65315"/>
            <a:ext cx="8958941" cy="674914"/>
          </a:xfrm>
        </p:spPr>
        <p:txBody>
          <a:bodyPr>
            <a:normAutofit/>
          </a:bodyPr>
          <a:lstStyle/>
          <a:p>
            <a:r>
              <a:rPr lang="en-US" sz="3600" b="1" dirty="0"/>
              <a:t>RECOMMENDATIONS (PRESCRIPTIVE)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E3FE6B-98AD-5CFE-0112-F3D8CF997C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208322"/>
            <a:ext cx="9144000" cy="4800593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Focus investment and promotions on </a:t>
            </a:r>
            <a:r>
              <a:rPr lang="en-US" b="1" dirty="0"/>
              <a:t>Technology products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Reassess pricing and discount strategies for loss-making sub-categories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Expand operations and marketing in </a:t>
            </a:r>
            <a:r>
              <a:rPr lang="en-US" b="1" dirty="0"/>
              <a:t>APAC and EU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Optimize shipping mode usage to maximize profitability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Monitor discount levels to prevent margin erosion</a:t>
            </a:r>
          </a:p>
        </p:txBody>
      </p:sp>
    </p:spTree>
    <p:extLst>
      <p:ext uri="{BB962C8B-B14F-4D97-AF65-F5344CB8AC3E}">
        <p14:creationId xmlns:p14="http://schemas.microsoft.com/office/powerpoint/2010/main" val="2129536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2EB13-FF56-8512-DDD1-2FA37E631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FFF7-2FF6-C4C2-2970-8B821D8522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69771" y="65315"/>
            <a:ext cx="4659086" cy="674914"/>
          </a:xfrm>
        </p:spPr>
        <p:txBody>
          <a:bodyPr>
            <a:normAutofit/>
          </a:bodyPr>
          <a:lstStyle/>
          <a:p>
            <a:r>
              <a:rPr lang="en-US" sz="3600" b="1" dirty="0"/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7D820E-B0AE-71C6-DF8D-035166FE11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208322"/>
            <a:ext cx="9144000" cy="4800593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dirty="0"/>
              <a:t>Data-driven analysis provides valuable insights into sales patterns, customer behavior, and profitability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endParaRPr lang="en-US" dirty="0"/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dirty="0"/>
              <a:t>Proper data modeling enabled accurate and scalable analysis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endParaRPr lang="en-US" dirty="0"/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dirty="0"/>
              <a:t>The dashboard supports strategic decision-making across products, markets, and operations</a:t>
            </a:r>
          </a:p>
          <a:p>
            <a:pPr algn="l"/>
            <a:endParaRPr lang="en-US" b="1" dirty="0"/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i="1" dirty="0"/>
              <a:t>Leveraging analytics enables the Global Superstore to improve profitability and sustain long-term growth.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3210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</TotalTime>
  <Words>726</Words>
  <Application>Microsoft Office PowerPoint</Application>
  <PresentationFormat>Widescreen</PresentationFormat>
  <Paragraphs>122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Wingdings</vt:lpstr>
      <vt:lpstr>Office Theme</vt:lpstr>
      <vt:lpstr>Global Superstore Sales &amp; Profitability Analysis</vt:lpstr>
      <vt:lpstr>DATASET OVERVIEW &amp; MODELING</vt:lpstr>
      <vt:lpstr>PROFIT TREND OVER TIME (DESCRIPTIVE)</vt:lpstr>
      <vt:lpstr>SALES BY PRODUCT CATEGORY (DESCRIPTIVE)</vt:lpstr>
      <vt:lpstr>PROFIT BY SUB-CATEGORY (DIAGNOSTIC)</vt:lpstr>
      <vt:lpstr>PROFIT BY MARKET (DIAGNOSTIC)</vt:lpstr>
      <vt:lpstr>CUSTOMER SEGMENT PERFORMANCE ANALYSIS (DIAGNOSTIC → PRESCRIPTIVE)</vt:lpstr>
      <vt:lpstr>SHIPPING MODE ANALYSIS (DIAGNOSTIC → PRESCRIPTIVE)</vt:lpstr>
      <vt:lpstr>Monthly sales and profit trends (Predictive)</vt:lpstr>
      <vt:lpstr>BUSINESS INSIGHTS SUMMARY</vt:lpstr>
      <vt:lpstr>RECOMMENDATIONS (PRESCRIPTIVE)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Shirley Odunze-Akasiugwu</dc:creator>
  <cp:lastModifiedBy>Shirley Odunze-Akasiugwu</cp:lastModifiedBy>
  <cp:revision>3</cp:revision>
  <dcterms:created xsi:type="dcterms:W3CDTF">2026-02-06T23:01:55Z</dcterms:created>
  <dcterms:modified xsi:type="dcterms:W3CDTF">2026-02-07T23:14:36Z</dcterms:modified>
</cp:coreProperties>
</file>